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9144000" cy="51435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Стек технологий бэкенда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38404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50976" y="1133856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47548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ASP.NET Core Web API</a:t>
            </a:r>
            <a:endParaRPr lang="en-US" sz="950"/>
          </a:p>
        </p:txBody>
      </p:sp>
      <p:sp>
        <p:nvSpPr>
          <p:cNvPr id="7" name="Text 4"/>
          <p:cNvSpPr/>
          <p:nvPr/>
        </p:nvSpPr>
        <p:spPr bwMode="auto">
          <a:xfrm>
            <a:off x="45720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HTTP-сервер и маршрутизация запросов</a:t>
            </a:r>
            <a:endParaRPr lang="en-US" sz="750"/>
          </a:p>
        </p:txBody>
      </p:sp>
      <p:sp>
        <p:nvSpPr>
          <p:cNvPr id="8" name="Shape 5"/>
          <p:cNvSpPr/>
          <p:nvPr/>
        </p:nvSpPr>
        <p:spPr bwMode="auto">
          <a:xfrm>
            <a:off x="202996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96896" y="1133856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 bwMode="auto">
          <a:xfrm>
            <a:off x="212140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Entity Framework Coreм</a:t>
            </a:r>
            <a:endParaRPr lang="en-US" sz="950"/>
          </a:p>
        </p:txBody>
      </p:sp>
      <p:sp>
        <p:nvSpPr>
          <p:cNvPr id="11" name="Text 7"/>
          <p:cNvSpPr/>
          <p:nvPr/>
        </p:nvSpPr>
        <p:spPr bwMode="auto">
          <a:xfrm>
            <a:off x="210312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ORM — C# классы вместо SQL</a:t>
            </a:r>
            <a:endParaRPr lang="en-US" sz="750"/>
          </a:p>
        </p:txBody>
      </p:sp>
      <p:sp>
        <p:nvSpPr>
          <p:cNvPr id="12" name="Shape 8"/>
          <p:cNvSpPr/>
          <p:nvPr/>
        </p:nvSpPr>
        <p:spPr bwMode="auto">
          <a:xfrm>
            <a:off x="367588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242816" y="1133856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 bwMode="auto">
          <a:xfrm>
            <a:off x="376732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PostgreSQL</a:t>
            </a:r>
            <a:endParaRPr lang="en-US" sz="950"/>
          </a:p>
        </p:txBody>
      </p:sp>
      <p:sp>
        <p:nvSpPr>
          <p:cNvPr id="15" name="Text 10"/>
          <p:cNvSpPr/>
          <p:nvPr/>
        </p:nvSpPr>
        <p:spPr bwMode="auto">
          <a:xfrm>
            <a:off x="374904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Реляционная база данных</a:t>
            </a:r>
            <a:endParaRPr lang="en-US" sz="750"/>
          </a:p>
        </p:txBody>
      </p:sp>
      <p:sp>
        <p:nvSpPr>
          <p:cNvPr id="16" name="Shape 11"/>
          <p:cNvSpPr/>
          <p:nvPr/>
        </p:nvSpPr>
        <p:spPr bwMode="auto">
          <a:xfrm>
            <a:off x="532180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888736" y="1133856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 bwMode="auto">
          <a:xfrm>
            <a:off x="541324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Npgsql</a:t>
            </a:r>
            <a:endParaRPr lang="en-US" sz="950"/>
          </a:p>
        </p:txBody>
      </p:sp>
      <p:sp>
        <p:nvSpPr>
          <p:cNvPr id="19" name="Text 13"/>
          <p:cNvSpPr/>
          <p:nvPr/>
        </p:nvSpPr>
        <p:spPr bwMode="auto">
          <a:xfrm>
            <a:off x="539496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Провайдер EF Core для PostgreSQL</a:t>
            </a:r>
            <a:endParaRPr lang="en-US" sz="750"/>
          </a:p>
        </p:txBody>
      </p:sp>
      <p:sp>
        <p:nvSpPr>
          <p:cNvPr id="20" name="Shape 14"/>
          <p:cNvSpPr/>
          <p:nvPr/>
        </p:nvSpPr>
        <p:spPr bwMode="auto">
          <a:xfrm>
            <a:off x="696772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534656" y="1133856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 bwMode="auto">
          <a:xfrm>
            <a:off x="705916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Swagger / OpenAPI</a:t>
            </a:r>
            <a:endParaRPr lang="en-US" sz="950"/>
          </a:p>
        </p:txBody>
      </p:sp>
      <p:sp>
        <p:nvSpPr>
          <p:cNvPr id="23" name="Text 16"/>
          <p:cNvSpPr/>
          <p:nvPr/>
        </p:nvSpPr>
        <p:spPr bwMode="auto">
          <a:xfrm>
            <a:off x="704088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Автодокументация и тестирование API</a:t>
            </a:r>
            <a:endParaRPr lang="en-US" sz="750"/>
          </a:p>
        </p:txBody>
      </p:sp>
      <p:sp>
        <p:nvSpPr>
          <p:cNvPr id="24" name="Text 17"/>
          <p:cNvSpPr/>
          <p:nvPr/>
        </p:nvSpPr>
        <p:spPr bwMode="auto">
          <a:xfrm>
            <a:off x="411480" y="4526280"/>
            <a:ext cx="8321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.NET 10  ·  PostgreSQL 15+  ·  EF Core 10</a:t>
            </a:r>
            <a:endParaRPr lang="en-US" sz="900"/>
          </a:p>
        </p:txBody>
      </p:sp>
      <p:sp>
        <p:nvSpPr>
          <p:cNvPr id="304717561" name="Shape 2"/>
          <p:cNvSpPr/>
          <p:nvPr/>
        </p:nvSpPr>
        <p:spPr bwMode="auto">
          <a:xfrm>
            <a:off x="384048" y="3065906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pPr>
              <a:defRPr/>
            </a:pPr>
            <a:endParaRPr/>
          </a:p>
        </p:txBody>
      </p:sp>
      <p:sp>
        <p:nvSpPr>
          <p:cNvPr id="362872205" name=""/>
          <p:cNvSpPr txBox="1"/>
          <p:nvPr/>
        </p:nvSpPr>
        <p:spPr bwMode="auto">
          <a:xfrm flipH="0" flipV="0">
            <a:off x="411480" y="2320290"/>
            <a:ext cx="383241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Стек технологий Фронтенда</a:t>
            </a:r>
            <a:endParaRPr sz="2200"/>
          </a:p>
        </p:txBody>
      </p:sp>
      <p:sp>
        <p:nvSpPr>
          <p:cNvPr id="1389476508" name="Shape 1"/>
          <p:cNvSpPr/>
          <p:nvPr/>
        </p:nvSpPr>
        <p:spPr bwMode="auto">
          <a:xfrm>
            <a:off x="411480" y="2823210"/>
            <a:ext cx="832103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73270261" name="Text 3"/>
          <p:cNvSpPr/>
          <p:nvPr/>
        </p:nvSpPr>
        <p:spPr bwMode="auto">
          <a:xfrm>
            <a:off x="475487" y="3714750"/>
            <a:ext cx="13898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 i="0" u="none" strike="noStrike" cap="none" spc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Приложение WPF (.Net Framework)</a:t>
            </a:r>
            <a:endParaRPr lang="en-US" sz="950"/>
          </a:p>
        </p:txBody>
      </p:sp>
      <p:pic>
        <p:nvPicPr>
          <p:cNvPr id="185779426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50976" y="3166490"/>
            <a:ext cx="438912" cy="438912"/>
          </a:xfrm>
          <a:prstGeom prst="rect">
            <a:avLst/>
          </a:prstGeom>
        </p:spPr>
      </p:pic>
      <p:sp>
        <p:nvSpPr>
          <p:cNvPr id="800800737" name="Shape 5"/>
          <p:cNvSpPr/>
          <p:nvPr/>
        </p:nvSpPr>
        <p:spPr bwMode="auto">
          <a:xfrm>
            <a:off x="2029968" y="3065906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59433297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96896" y="3166490"/>
            <a:ext cx="438912" cy="438912"/>
          </a:xfrm>
          <a:prstGeom prst="rect">
            <a:avLst/>
          </a:prstGeom>
        </p:spPr>
      </p:pic>
      <p:sp>
        <p:nvSpPr>
          <p:cNvPr id="2127316267" name="Text 6"/>
          <p:cNvSpPr/>
          <p:nvPr/>
        </p:nvSpPr>
        <p:spPr bwMode="auto">
          <a:xfrm>
            <a:off x="2103120" y="3657600"/>
            <a:ext cx="13898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sz="12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XAML</a:t>
            </a:r>
            <a:r>
              <a:rPr sz="12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endParaRPr/>
          </a:p>
        </p:txBody>
      </p:sp>
      <p:sp>
        <p:nvSpPr>
          <p:cNvPr id="540648415" name="Text 7"/>
          <p:cNvSpPr/>
          <p:nvPr/>
        </p:nvSpPr>
        <p:spPr bwMode="auto">
          <a:xfrm>
            <a:off x="2121408" y="3851909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Декларативный язык разметки интерфейса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Архитектура: слои приложения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1097280" y="914400"/>
            <a:ext cx="6949440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 bwMode="auto">
          <a:xfrm>
            <a:off x="1280160" y="950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WPF-клиент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 bwMode="auto">
          <a:xfrm>
            <a:off x="3657600" y="9509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HTTP-запрос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 bwMode="auto">
          <a:xfrm>
            <a:off x="4533900" y="1328928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 bwMode="auto">
          <a:xfrm>
            <a:off x="1097280" y="1444752"/>
            <a:ext cx="6949440" cy="47548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 bwMode="auto">
          <a:xfrm>
            <a:off x="1280160" y="1481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Middleware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 bwMode="auto">
          <a:xfrm>
            <a:off x="3657600" y="14813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Перехват ошибок (ExceptionHandlingMiddleware)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 bwMode="auto">
          <a:xfrm>
            <a:off x="4572000" y="1857514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 bwMode="auto">
          <a:xfrm>
            <a:off x="1097280" y="1975104"/>
            <a:ext cx="6949440" cy="47548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 bwMode="auto">
          <a:xfrm>
            <a:off x="1280160" y="2011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ValidationFilter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 bwMode="auto">
          <a:xfrm>
            <a:off x="3657600" y="20116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Проверка DTO по атрибутам [Required] [MaxLength]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 bwMode="auto">
          <a:xfrm>
            <a:off x="4572000" y="2387866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 bwMode="auto">
          <a:xfrm>
            <a:off x="1097280" y="2505456"/>
            <a:ext cx="69494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 bwMode="auto">
          <a:xfrm>
            <a:off x="1280160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Controller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 bwMode="auto">
          <a:xfrm>
            <a:off x="3657600" y="25420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Принять запрос → передать в сервис → вернуть ответ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 bwMode="auto">
          <a:xfrm>
            <a:off x="4572000" y="2932157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 bwMode="auto">
          <a:xfrm>
            <a:off x="1097280" y="3035808"/>
            <a:ext cx="69494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 bwMode="auto">
          <a:xfrm>
            <a:off x="1280160" y="30723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 bwMode="auto">
          <a:xfrm>
            <a:off x="3657600" y="307238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Бизнес-логика, транзакции, правила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 bwMode="auto">
          <a:xfrm>
            <a:off x="4572000" y="3455540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 bwMode="auto">
          <a:xfrm>
            <a:off x="1097280" y="3566160"/>
            <a:ext cx="69494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 bwMode="auto">
          <a:xfrm>
            <a:off x="1280160" y="3602735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Repository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 bwMode="auto">
          <a:xfrm>
            <a:off x="3657600" y="3602735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LINQ-запросы к базе данных через EF Core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 bwMode="auto">
          <a:xfrm>
            <a:off x="4572000" y="3985892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 bwMode="auto">
          <a:xfrm>
            <a:off x="1097280" y="4096512"/>
            <a:ext cx="694944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 bwMode="auto">
          <a:xfrm>
            <a:off x="1280160" y="4133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AppDbContext → PostgreSQL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 bwMode="auto">
          <a:xfrm>
            <a:off x="3657600" y="413308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Физическое хранение данных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Структура проекта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384048" y="96012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 bwMode="auto">
          <a:xfrm>
            <a:off x="384048" y="960120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493776" y="1014984"/>
            <a:ext cx="2432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Controllers/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 bwMode="auto">
          <a:xfrm>
            <a:off x="493776" y="1325880"/>
            <a:ext cx="2432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HTTP эндпоинты — 5 контроллеров</a:t>
            </a:r>
            <a:endParaRPr lang="en-US" sz="800"/>
          </a:p>
        </p:txBody>
      </p:sp>
      <p:sp>
        <p:nvSpPr>
          <p:cNvPr id="8" name="Text 6"/>
          <p:cNvSpPr/>
          <p:nvPr/>
        </p:nvSpPr>
        <p:spPr bwMode="auto">
          <a:xfrm>
            <a:off x="493776" y="155448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ProductsController</a:t>
            </a:r>
            <a:endParaRPr lang="en-US" sz="800"/>
          </a:p>
        </p:txBody>
      </p:sp>
      <p:sp>
        <p:nvSpPr>
          <p:cNvPr id="9" name="Text 7"/>
          <p:cNvSpPr/>
          <p:nvPr/>
        </p:nvSpPr>
        <p:spPr bwMode="auto">
          <a:xfrm>
            <a:off x="493776" y="171450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OperationsController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 bwMode="auto">
          <a:xfrm>
            <a:off x="493776" y="187452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StockController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 bwMode="auto">
          <a:xfrm>
            <a:off x="493776" y="203454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CounterpartiesController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 bwMode="auto">
          <a:xfrm>
            <a:off x="493776" y="219456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AnalyticsController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 bwMode="auto">
          <a:xfrm>
            <a:off x="3200400" y="96012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 bwMode="auto">
          <a:xfrm>
            <a:off x="3200400" y="960120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 bwMode="auto">
          <a:xfrm>
            <a:off x="3310127" y="1014984"/>
            <a:ext cx="2432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Services/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 bwMode="auto">
          <a:xfrm>
            <a:off x="3310127" y="1325880"/>
            <a:ext cx="2432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Бизнес-логика + Interfaces/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 bwMode="auto">
          <a:xfrm>
            <a:off x="3310127" y="155448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ProductService</a:t>
            </a:r>
            <a:endParaRPr lang="en-US" sz="800"/>
          </a:p>
        </p:txBody>
      </p:sp>
      <p:sp>
        <p:nvSpPr>
          <p:cNvPr id="18" name="Text 16"/>
          <p:cNvSpPr/>
          <p:nvPr/>
        </p:nvSpPr>
        <p:spPr bwMode="auto">
          <a:xfrm>
            <a:off x="3310127" y="171450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OperationService</a:t>
            </a:r>
            <a:endParaRPr lang="en-US" sz="800"/>
          </a:p>
        </p:txBody>
      </p:sp>
      <p:sp>
        <p:nvSpPr>
          <p:cNvPr id="19" name="Text 17"/>
          <p:cNvSpPr/>
          <p:nvPr/>
        </p:nvSpPr>
        <p:spPr bwMode="auto">
          <a:xfrm>
            <a:off x="3310127" y="187452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CounterpartyService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 bwMode="auto">
          <a:xfrm>
            <a:off x="3310127" y="203454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StockService</a:t>
            </a:r>
            <a:endParaRPr lang="en-US" sz="800"/>
          </a:p>
        </p:txBody>
      </p:sp>
      <p:sp>
        <p:nvSpPr>
          <p:cNvPr id="21" name="Text 19"/>
          <p:cNvSpPr/>
          <p:nvPr/>
        </p:nvSpPr>
        <p:spPr bwMode="auto">
          <a:xfrm>
            <a:off x="3310127" y="219456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AnalyticsService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 bwMode="auto">
          <a:xfrm>
            <a:off x="6016752" y="96012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 bwMode="auto">
          <a:xfrm>
            <a:off x="6016752" y="960120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 bwMode="auto">
          <a:xfrm>
            <a:off x="6126480" y="1014984"/>
            <a:ext cx="2432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Repositories/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 bwMode="auto">
          <a:xfrm>
            <a:off x="6126480" y="1325880"/>
            <a:ext cx="2432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Запросы к БД + Interfaces/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 bwMode="auto">
          <a:xfrm>
            <a:off x="6126480" y="155448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ProductRepository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 bwMode="auto">
          <a:xfrm>
            <a:off x="6126480" y="171450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OperationRepository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 bwMode="auto">
          <a:xfrm>
            <a:off x="6126480" y="187452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CounterpartyRepository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 bwMode="auto">
          <a:xfrm>
            <a:off x="6126480" y="203454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StockRepository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 bwMode="auto">
          <a:xfrm>
            <a:off x="6126480" y="2194560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AnalyticsRepository</a:t>
            </a:r>
            <a:endParaRPr lang="en-US" sz="800"/>
          </a:p>
        </p:txBody>
      </p:sp>
      <p:sp>
        <p:nvSpPr>
          <p:cNvPr id="31" name="Shape 29"/>
          <p:cNvSpPr/>
          <p:nvPr/>
        </p:nvSpPr>
        <p:spPr bwMode="auto">
          <a:xfrm>
            <a:off x="384048" y="248716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 bwMode="auto">
          <a:xfrm>
            <a:off x="384048" y="2487168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 bwMode="auto">
          <a:xfrm>
            <a:off x="493776" y="2542032"/>
            <a:ext cx="2432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Models/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 bwMode="auto">
          <a:xfrm>
            <a:off x="493776" y="2852928"/>
            <a:ext cx="2432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Сущности EF Core — 6 таблиц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 bwMode="auto">
          <a:xfrm>
            <a:off x="493776" y="308152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 bwMode="auto">
          <a:xfrm>
            <a:off x="493776" y="324154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Stock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 bwMode="auto">
          <a:xfrm>
            <a:off x="493776" y="340156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Operation</a:t>
            </a:r>
            <a:endParaRPr lang="en-US" sz="800"/>
          </a:p>
        </p:txBody>
      </p:sp>
      <p:sp>
        <p:nvSpPr>
          <p:cNvPr id="38" name="Text 36"/>
          <p:cNvSpPr/>
          <p:nvPr/>
        </p:nvSpPr>
        <p:spPr bwMode="auto">
          <a:xfrm>
            <a:off x="493776" y="356158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OperationItem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 bwMode="auto">
          <a:xfrm>
            <a:off x="493776" y="372160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Counterparty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 bwMode="auto">
          <a:xfrm>
            <a:off x="493776" y="3881627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Contact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 bwMode="auto">
          <a:xfrm>
            <a:off x="3200400" y="248716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 bwMode="auto">
          <a:xfrm>
            <a:off x="3200400" y="2487168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 bwMode="auto">
          <a:xfrm>
            <a:off x="3310127" y="2542032"/>
            <a:ext cx="2432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DTOs/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 bwMode="auto">
          <a:xfrm>
            <a:off x="3310127" y="2852928"/>
            <a:ext cx="2432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Create · Update · Response DTO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 bwMode="auto">
          <a:xfrm>
            <a:off x="3310127" y="308152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Products/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 bwMode="auto">
          <a:xfrm>
            <a:off x="3310127" y="324154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Operations/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 bwMode="auto">
          <a:xfrm>
            <a:off x="3310127" y="340156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Counterparties/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 bwMode="auto">
          <a:xfrm>
            <a:off x="3310127" y="356158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Stock/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 bwMode="auto">
          <a:xfrm>
            <a:off x="3310127" y="372160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Analytics/</a:t>
            </a:r>
            <a:endParaRPr lang="en-US" sz="800"/>
          </a:p>
        </p:txBody>
      </p:sp>
      <p:sp>
        <p:nvSpPr>
          <p:cNvPr id="50" name="Shape 48"/>
          <p:cNvSpPr/>
          <p:nvPr/>
        </p:nvSpPr>
        <p:spPr bwMode="auto">
          <a:xfrm>
            <a:off x="6016752" y="248716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 bwMode="auto">
          <a:xfrm>
            <a:off x="6016752" y="2487168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 bwMode="auto">
          <a:xfrm>
            <a:off x="6126480" y="2542032"/>
            <a:ext cx="2432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Middleware/ + Filters/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 bwMode="auto">
          <a:xfrm>
            <a:off x="6126480" y="2852928"/>
            <a:ext cx="2432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Ошибки и валидация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 bwMode="auto">
          <a:xfrm>
            <a:off x="6126480" y="308152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ExceptionHandlingMiddleware</a:t>
            </a:r>
            <a:endParaRPr lang="en-US" sz="800"/>
          </a:p>
        </p:txBody>
      </p:sp>
      <p:sp>
        <p:nvSpPr>
          <p:cNvPr id="55" name="Text 53"/>
          <p:cNvSpPr/>
          <p:nvPr/>
        </p:nvSpPr>
        <p:spPr bwMode="auto">
          <a:xfrm>
            <a:off x="6126480" y="3241548"/>
            <a:ext cx="243230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·  </a:t>
            </a:r>
            <a:r>
              <a:rPr lang="en-US" sz="8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ValidationFilter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База данных: схема таблиц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365760" y="960120"/>
            <a:ext cx="2148840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365760" y="1005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Products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 bwMode="auto">
          <a:xfrm>
            <a:off x="365760" y="1307592"/>
            <a:ext cx="2148840" cy="1673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457200" y="13807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Id : int (PK)</a:t>
            </a:r>
            <a:endParaRPr lang="en-US" sz="850"/>
          </a:p>
        </p:txBody>
      </p:sp>
      <p:sp>
        <p:nvSpPr>
          <p:cNvPr id="8" name="Text 6"/>
          <p:cNvSpPr/>
          <p:nvPr/>
        </p:nvSpPr>
        <p:spPr bwMode="auto">
          <a:xfrm>
            <a:off x="457200" y="1636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Name : varchar(200)</a:t>
            </a:r>
            <a:endParaRPr lang="en-US" sz="850"/>
          </a:p>
        </p:txBody>
      </p:sp>
      <p:sp>
        <p:nvSpPr>
          <p:cNvPr id="9" name="Text 7"/>
          <p:cNvSpPr/>
          <p:nvPr/>
        </p:nvSpPr>
        <p:spPr bwMode="auto">
          <a:xfrm>
            <a:off x="457200" y="18928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Article : varchar(50)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 bwMode="auto">
          <a:xfrm>
            <a:off x="457200" y="2148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Unit : varchar(20)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 bwMode="auto">
          <a:xfrm>
            <a:off x="457200" y="2404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Price : decimal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 bwMode="auto">
          <a:xfrm>
            <a:off x="457200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CreatedAt : datetime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 bwMode="auto">
          <a:xfrm>
            <a:off x="365760" y="3300984"/>
            <a:ext cx="2148840" cy="347472"/>
          </a:xfrm>
          <a:prstGeom prst="rect">
            <a:avLst/>
          </a:prstGeom>
          <a:solidFill>
            <a:srgbClr val="134E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 bwMode="auto">
          <a:xfrm>
            <a:off x="365760" y="33467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Stocks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 bwMode="auto">
          <a:xfrm>
            <a:off x="365760" y="3648456"/>
            <a:ext cx="2148840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 bwMode="auto">
          <a:xfrm>
            <a:off x="457200" y="3721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Id : int (PK)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 bwMode="auto">
          <a:xfrm>
            <a:off x="457200" y="3977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ProductId : int (FK)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 bwMode="auto">
          <a:xfrm>
            <a:off x="457200" y="4233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Quantity : decimal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 bwMode="auto">
          <a:xfrm>
            <a:off x="457200" y="44897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UpdatedAt : datetime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 bwMode="auto">
          <a:xfrm>
            <a:off x="3246120" y="960120"/>
            <a:ext cx="2377440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 bwMode="auto">
          <a:xfrm>
            <a:off x="3246120" y="1005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Operations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 bwMode="auto">
          <a:xfrm>
            <a:off x="3246120" y="1307592"/>
            <a:ext cx="2377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 bwMode="auto">
          <a:xfrm>
            <a:off x="3337560" y="1380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Id : int (PK)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 bwMode="auto">
          <a:xfrm>
            <a:off x="3337560" y="1636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Type : enum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 bwMode="auto">
          <a:xfrm>
            <a:off x="333756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Date : datetime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 bwMode="auto">
          <a:xfrm>
            <a:off x="3337560" y="2148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Comment : text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 bwMode="auto">
          <a:xfrm>
            <a:off x="3337560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CounterpartyId : int (FK)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 bwMode="auto">
          <a:xfrm>
            <a:off x="3246120" y="2788920"/>
            <a:ext cx="2377440" cy="347472"/>
          </a:xfrm>
          <a:prstGeom prst="rect">
            <a:avLst/>
          </a:prstGeom>
          <a:solidFill>
            <a:srgbClr val="134E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 bwMode="auto">
          <a:xfrm>
            <a:off x="324612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OperationItems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 bwMode="auto">
          <a:xfrm>
            <a:off x="3246120" y="3136392"/>
            <a:ext cx="2377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 bwMode="auto">
          <a:xfrm>
            <a:off x="3337560" y="3209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Id : int (PK)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 bwMode="auto">
          <a:xfrm>
            <a:off x="3337560" y="3465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OperationId : int (FK)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 bwMode="auto">
          <a:xfrm>
            <a:off x="3337560" y="3721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ProductId : int (FK)</a:t>
            </a:r>
            <a:endParaRPr lang="en-US" sz="850"/>
          </a:p>
        </p:txBody>
      </p:sp>
      <p:sp>
        <p:nvSpPr>
          <p:cNvPr id="34" name="Text 32"/>
          <p:cNvSpPr/>
          <p:nvPr/>
        </p:nvSpPr>
        <p:spPr bwMode="auto">
          <a:xfrm>
            <a:off x="3337560" y="3977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Quantity : decimal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 bwMode="auto">
          <a:xfrm>
            <a:off x="3337560" y="4233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Price : decimal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 bwMode="auto">
          <a:xfrm>
            <a:off x="6446520" y="960120"/>
            <a:ext cx="2304288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 bwMode="auto">
          <a:xfrm>
            <a:off x="6446520" y="100584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Counterparties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 bwMode="auto">
          <a:xfrm>
            <a:off x="6446520" y="1307592"/>
            <a:ext cx="23042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 bwMode="auto">
          <a:xfrm>
            <a:off x="6537960" y="138074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Id : int (PK)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 bwMode="auto">
          <a:xfrm>
            <a:off x="6537960" y="163677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Name : varchar(200)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 bwMode="auto">
          <a:xfrm>
            <a:off x="6537960" y="1892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Type : enum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 bwMode="auto">
          <a:xfrm>
            <a:off x="6537960" y="214884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Inn : varchar(12)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 bwMode="auto">
          <a:xfrm>
            <a:off x="6537960" y="24048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Address : varchar(300)</a:t>
            </a:r>
            <a:endParaRPr lang="en-US" sz="850"/>
          </a:p>
        </p:txBody>
      </p:sp>
      <p:sp>
        <p:nvSpPr>
          <p:cNvPr id="44" name="Shape 42"/>
          <p:cNvSpPr/>
          <p:nvPr/>
        </p:nvSpPr>
        <p:spPr bwMode="auto">
          <a:xfrm>
            <a:off x="6446520" y="2743200"/>
            <a:ext cx="2304288" cy="347472"/>
          </a:xfrm>
          <a:prstGeom prst="rect">
            <a:avLst/>
          </a:prstGeom>
          <a:solidFill>
            <a:srgbClr val="134E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 bwMode="auto">
          <a:xfrm>
            <a:off x="6446520" y="2788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Contacts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 bwMode="auto">
          <a:xfrm>
            <a:off x="6446520" y="3090672"/>
            <a:ext cx="23042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 bwMode="auto">
          <a:xfrm>
            <a:off x="6537960" y="31638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Id : int (PK)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 bwMode="auto">
          <a:xfrm>
            <a:off x="6537960" y="34198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CounterpartyId : int (FK)</a:t>
            </a:r>
            <a:endParaRPr lang="en-US" sz="850"/>
          </a:p>
        </p:txBody>
      </p:sp>
      <p:sp>
        <p:nvSpPr>
          <p:cNvPr id="49" name="Text 47"/>
          <p:cNvSpPr/>
          <p:nvPr/>
        </p:nvSpPr>
        <p:spPr bwMode="auto">
          <a:xfrm>
            <a:off x="6537960" y="36758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Name : varchar(100)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 bwMode="auto">
          <a:xfrm>
            <a:off x="6537960" y="39319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Phone : varchar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 bwMode="auto">
          <a:xfrm>
            <a:off x="6537960" y="418795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+ Email : varchar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 bwMode="auto">
          <a:xfrm>
            <a:off x="1440180" y="2980944"/>
            <a:ext cx="0" cy="3200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53" name="Text 51"/>
          <p:cNvSpPr/>
          <p:nvPr/>
        </p:nvSpPr>
        <p:spPr bwMode="auto">
          <a:xfrm>
            <a:off x="1263433" y="2982895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1:1</a:t>
            </a:r>
            <a:endParaRPr lang="en-US" sz="750"/>
          </a:p>
        </p:txBody>
      </p:sp>
      <p:sp>
        <p:nvSpPr>
          <p:cNvPr id="54" name="Shape 52"/>
          <p:cNvSpPr/>
          <p:nvPr/>
        </p:nvSpPr>
        <p:spPr bwMode="auto">
          <a:xfrm>
            <a:off x="2514600" y="1920240"/>
            <a:ext cx="731520" cy="1325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55" name="Text 53"/>
          <p:cNvSpPr/>
          <p:nvPr/>
        </p:nvSpPr>
        <p:spPr bwMode="auto">
          <a:xfrm>
            <a:off x="2487558" y="2494807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1:N</a:t>
            </a:r>
            <a:endParaRPr lang="en-US" sz="750"/>
          </a:p>
        </p:txBody>
      </p:sp>
      <p:sp>
        <p:nvSpPr>
          <p:cNvPr id="56" name="Shape 54"/>
          <p:cNvSpPr/>
          <p:nvPr/>
        </p:nvSpPr>
        <p:spPr bwMode="auto">
          <a:xfrm>
            <a:off x="4281511" y="2691347"/>
            <a:ext cx="132421" cy="11151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57" name="Text 55"/>
          <p:cNvSpPr/>
          <p:nvPr/>
        </p:nvSpPr>
        <p:spPr bwMode="auto">
          <a:xfrm>
            <a:off x="4258093" y="2580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1:N</a:t>
            </a:r>
            <a:endParaRPr lang="en-US" sz="750"/>
          </a:p>
        </p:txBody>
      </p:sp>
      <p:sp>
        <p:nvSpPr>
          <p:cNvPr id="58" name="Shape 56"/>
          <p:cNvSpPr/>
          <p:nvPr/>
        </p:nvSpPr>
        <p:spPr bwMode="auto">
          <a:xfrm>
            <a:off x="5623560" y="1417320"/>
            <a:ext cx="8229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59" name="Text 57"/>
          <p:cNvSpPr/>
          <p:nvPr/>
        </p:nvSpPr>
        <p:spPr bwMode="auto">
          <a:xfrm>
            <a:off x="5760720" y="12313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N:1</a:t>
            </a:r>
            <a:endParaRPr lang="en-US" sz="750"/>
          </a:p>
        </p:txBody>
      </p:sp>
      <p:sp>
        <p:nvSpPr>
          <p:cNvPr id="60" name="Shape 58"/>
          <p:cNvSpPr/>
          <p:nvPr/>
        </p:nvSpPr>
        <p:spPr bwMode="auto">
          <a:xfrm flipH="1">
            <a:off x="7598664" y="2631688"/>
            <a:ext cx="118481" cy="9757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61" name="Text 59"/>
          <p:cNvSpPr/>
          <p:nvPr/>
        </p:nvSpPr>
        <p:spPr bwMode="auto">
          <a:xfrm>
            <a:off x="7575246" y="2560599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1:N</a:t>
            </a:r>
            <a:endParaRPr lang="en-US" sz="750"/>
          </a:p>
        </p:txBody>
      </p:sp>
      <p:sp>
        <p:nvSpPr>
          <p:cNvPr id="62" name="Text 60"/>
          <p:cNvSpPr/>
          <p:nvPr/>
        </p:nvSpPr>
        <p:spPr bwMode="auto">
          <a:xfrm>
            <a:off x="365760" y="47365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PK = первичный ключ  ·  FK = внешний ключ  ·  enum = перечисление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Модели и AppDbContext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МОДЕЛЬ (C# CLASS = ТАБЛИЦА В БД)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 bwMode="auto">
          <a:xfrm>
            <a:off x="411480" y="1325880"/>
            <a:ext cx="4160519" cy="2880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548640" y="1417320"/>
            <a:ext cx="3886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public class Product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public int Id { get; set; }          // PK, auto-increment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public string Name { get; set; }      // varchar(200)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public string Article { get; set; }   // артикул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public decimal Price { get; set; }    // decimal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public DateTime CreatedAt { get; set; } = DateTime.UtcNow;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// навигационное свойство — не колонка,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// а связь: Include(p =&gt; p.Stock) → JOIN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public Stock? Stock { get; set; }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 bwMode="auto">
          <a:xfrm>
            <a:off x="4773168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4901184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КОНФИГУРАЦИЯ СВЯЗЕЙ (FLUENT API)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 bwMode="auto">
          <a:xfrm>
            <a:off x="4773168" y="1325880"/>
            <a:ext cx="3977640" cy="2880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 bwMode="auto">
          <a:xfrm>
            <a:off x="4910328" y="1417320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protected override void OnModelCreating(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ModelBuilder modelBuilder)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// Product → Stock (1 : 1)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modelBuilder.Entity&lt;Stock&gt;()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.HasOne(s =&gt; s.Product)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.WithOne(p =&gt; p.Stock)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.HasForeignKey&lt;Stock&gt;(s =&gt; s.ProductId);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// Operation → OperationItems (1 : N)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modelBuilder.Entity&lt;OperationItem&gt;()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.HasOne(oi =&gt; oi.Operation)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.WithMany(o =&gt; o.Items)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.HasForeignKey(oi =&gt; oi.OperationId);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 bwMode="auto">
          <a:xfrm>
            <a:off x="411480" y="4343400"/>
            <a:ext cx="83210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EF Core генерирует SQL автоматически — мы пишем только C#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DTO и валидация входящих данных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ПРАВИЛА НА ПОЛЯХ DTO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 bwMode="auto">
          <a:xfrm>
            <a:off x="411480" y="1325880"/>
            <a:ext cx="4160519" cy="2834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548640" y="141732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public class ProductCreateDto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[Required(ErrorMessage = "Название обязательно")]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[MaxLength(200)]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public string Name { get; set; }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[Required(ErrorMessage = "Артикул обязателен")]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[MaxLength(50)]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public string Article { get; set; }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[Range(0, double.MaxValue,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ErrorMessage = "Цена не может быть отрицательной")]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public decimal Price { get; set; }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 bwMode="auto">
          <a:xfrm>
            <a:off x="4773168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4901184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ОТВЕТ ПРИ ОШИБКЕ ВАЛИДАЦИИ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 bwMode="auto">
          <a:xfrm>
            <a:off x="4773168" y="1325880"/>
            <a:ext cx="397764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 bwMode="auto">
          <a:xfrm>
            <a:off x="4910328" y="141732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"status": 400,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"message": "Ошибка валидации",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"errors": {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"name": ["Название обязательно"],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"price": ["Цена не может быть отрицательной"]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}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 bwMode="auto">
          <a:xfrm>
            <a:off x="4773168" y="3520440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 bwMode="auto">
          <a:xfrm>
            <a:off x="4901184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КАК РАБОТАЕТ VALIDATIONFILTER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 bwMode="auto">
          <a:xfrm>
            <a:off x="4846320" y="3749040"/>
            <a:ext cx="96012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 bwMode="auto">
          <a:xfrm>
            <a:off x="4846320" y="3749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Запрос пришёл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 bwMode="auto">
          <a:xfrm>
            <a:off x="5897880" y="4087368"/>
            <a:ext cx="96012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5897880" y="4087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ModelState.IsValid?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 bwMode="auto">
          <a:xfrm>
            <a:off x="7178039" y="4425696"/>
            <a:ext cx="96012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 bwMode="auto">
          <a:xfrm>
            <a:off x="7178039" y="44256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Контроллер выполняет логику</a:t>
            </a:r>
            <a:endParaRPr lang="en-US" sz="750"/>
          </a:p>
        </p:txBody>
      </p:sp>
      <p:sp>
        <p:nvSpPr>
          <p:cNvPr id="20" name="Shape 18"/>
          <p:cNvSpPr/>
          <p:nvPr/>
        </p:nvSpPr>
        <p:spPr bwMode="auto">
          <a:xfrm>
            <a:off x="7181107" y="3899191"/>
            <a:ext cx="960120" cy="274320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 bwMode="auto">
          <a:xfrm>
            <a:off x="7181107" y="3899191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400 с errors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 bwMode="auto">
          <a:xfrm>
            <a:off x="5806440" y="3886200"/>
            <a:ext cx="9144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 bwMode="auto">
          <a:xfrm>
            <a:off x="6761821" y="4185331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Да →</a:t>
            </a:r>
            <a:endParaRPr lang="en-US" sz="700"/>
          </a:p>
        </p:txBody>
      </p:sp>
      <p:sp>
        <p:nvSpPr>
          <p:cNvPr id="24" name="Text 22"/>
          <p:cNvSpPr/>
          <p:nvPr/>
        </p:nvSpPr>
        <p:spPr bwMode="auto">
          <a:xfrm>
            <a:off x="6764330" y="3928017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Нет →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Program.cs — точка входа и конфигурация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411480" y="960120"/>
            <a:ext cx="4846320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548640" y="1051560"/>
            <a:ext cx="45720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var builder = WebApplication.CreateBuilder(args);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1. Подключение к PostgreSQL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builder.Services.AddDbContext&lt;AppDbContext&gt;(options =&gt;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options.UseNpgsql(connectionString));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2. DI — один вызов на каждый интерфейс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builder.Services.AddScoped&lt;IProductRepository, ProductRepository&gt;();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builder.Services.AddScoped&lt;IProductService, ProductService&gt;();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... все 10 репозиториев и сервисов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3. Глобальный фильтр валидации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builder.Services.AddControllers(options =&gt;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options.Filters.Add&lt;ValidationFilter&gt;());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var app = builder.Build();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4. Middleware первым — ловит ВСЕ исключения ниже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app.UseMiddleware&lt;ExceptionHandlingMiddleware&gt;();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app.UseCors("AllowAll");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app.MapControllers();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app.Run();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 bwMode="auto">
          <a:xfrm>
            <a:off x="548640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561441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КАК РАБОТАЕТ DI (DEPENDENCY INJECTION)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 bwMode="auto">
          <a:xfrm>
            <a:off x="5486400" y="132588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54864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 bwMode="auto">
          <a:xfrm>
            <a:off x="5943600" y="1371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Контроллер объявляет зависимость в конструкторе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 bwMode="auto">
          <a:xfrm>
            <a:off x="5660136" y="1673352"/>
            <a:ext cx="0" cy="2194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 bwMode="auto">
          <a:xfrm>
            <a:off x="5486400" y="1892808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 bwMode="auto">
          <a:xfrm>
            <a:off x="548640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 bwMode="auto">
          <a:xfrm>
            <a:off x="5943600" y="1938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 видит: нужен IProductService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 bwMode="auto">
          <a:xfrm>
            <a:off x="5660136" y="2240280"/>
            <a:ext cx="0" cy="2194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 bwMode="auto">
          <a:xfrm>
            <a:off x="5486400" y="2459735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5486400" y="245973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 bwMode="auto">
          <a:xfrm>
            <a:off x="5943600" y="25054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Создаёт ProductService, передаёт IProductRepository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 bwMode="auto">
          <a:xfrm>
            <a:off x="5660136" y="2807208"/>
            <a:ext cx="0" cy="2194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 bwMode="auto">
          <a:xfrm>
            <a:off x="5486400" y="3026664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 bwMode="auto">
          <a:xfrm>
            <a:off x="54864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 bwMode="auto">
          <a:xfrm>
            <a:off x="5943600" y="30723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Создаёт ProductRepository, передаёт AppDbContext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 bwMode="auto">
          <a:xfrm>
            <a:off x="5660136" y="3374136"/>
            <a:ext cx="0" cy="2194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 bwMode="auto">
          <a:xfrm>
            <a:off x="5486400" y="3593592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 bwMode="auto">
          <a:xfrm>
            <a:off x="5486400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 bwMode="auto">
          <a:xfrm>
            <a:off x="5943600" y="36393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Всё автоматически — нигде нет new()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 bwMode="auto">
          <a:xfrm>
            <a:off x="5486400" y="4206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AddScoped = 1 экземпляр на 1 HTTP-запрос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Складские операции: транзакционная логика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4 ТИПА ОПЕРАЦИЙ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 bwMode="auto">
          <a:xfrm>
            <a:off x="411480" y="1298448"/>
            <a:ext cx="3977640" cy="621792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548640" y="1353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Приход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 bwMode="auto">
          <a:xfrm>
            <a:off x="548640" y="15727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 /api/operations/income</a:t>
            </a:r>
            <a:endParaRPr lang="en-US" sz="800"/>
          </a:p>
        </p:txBody>
      </p:sp>
      <p:sp>
        <p:nvSpPr>
          <p:cNvPr id="9" name="Text 7"/>
          <p:cNvSpPr/>
          <p:nvPr/>
        </p:nvSpPr>
        <p:spPr bwMode="auto">
          <a:xfrm>
            <a:off x="2651760" y="14447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Quantity += N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 bwMode="auto">
          <a:xfrm>
            <a:off x="411480" y="2048256"/>
            <a:ext cx="3977640" cy="621792"/>
          </a:xfrm>
          <a:prstGeom prst="rect">
            <a:avLst/>
          </a:prstGeom>
          <a:solidFill>
            <a:srgbClr val="FEF9C3"/>
          </a:solidFill>
          <a:ln w="6350">
            <a:solidFill>
              <a:srgbClr val="FDE047"/>
            </a:solidFill>
            <a:prstDash val="solid"/>
          </a:ln>
        </p:spPr>
      </p:sp>
      <p:sp>
        <p:nvSpPr>
          <p:cNvPr id="11" name="Text 9"/>
          <p:cNvSpPr/>
          <p:nvPr/>
        </p:nvSpPr>
        <p:spPr bwMode="auto">
          <a:xfrm>
            <a:off x="548640" y="2103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713F12"/>
                </a:solidFill>
                <a:latin typeface="Calibri"/>
                <a:ea typeface="Calibri"/>
                <a:cs typeface="Calibri"/>
              </a:rPr>
              <a:t>Реализация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 bwMode="auto">
          <a:xfrm>
            <a:off x="548640" y="2322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 /api/operations/sale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 bwMode="auto">
          <a:xfrm>
            <a:off x="2651760" y="21945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713F12"/>
                </a:solidFill>
                <a:latin typeface="Calibri"/>
                <a:ea typeface="Calibri"/>
                <a:cs typeface="Calibri"/>
              </a:rPr>
              <a:t>Проверка → Quantity -= N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 bwMode="auto">
          <a:xfrm>
            <a:off x="411480" y="2798064"/>
            <a:ext cx="3977640" cy="621792"/>
          </a:xfrm>
          <a:prstGeom prst="rect">
            <a:avLst/>
          </a:prstGeom>
          <a:solidFill>
            <a:srgbClr val="E0F2FE"/>
          </a:solidFill>
          <a:ln w="6350">
            <a:solidFill>
              <a:srgbClr val="7DD3FC"/>
            </a:solidFill>
            <a:prstDash val="solid"/>
          </a:ln>
        </p:spPr>
      </p:sp>
      <p:sp>
        <p:nvSpPr>
          <p:cNvPr id="15" name="Text 13"/>
          <p:cNvSpPr/>
          <p:nvPr/>
        </p:nvSpPr>
        <p:spPr bwMode="auto">
          <a:xfrm>
            <a:off x="54864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0C4A6E"/>
                </a:solidFill>
                <a:latin typeface="Calibri"/>
                <a:ea typeface="Calibri"/>
                <a:cs typeface="Calibri"/>
              </a:rPr>
              <a:t>Перемещение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 bwMode="auto">
          <a:xfrm>
            <a:off x="548640" y="30723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 /api/operations/transfer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 bwMode="auto">
          <a:xfrm>
            <a:off x="265176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0C4A6E"/>
                </a:solidFill>
                <a:latin typeface="Calibri"/>
                <a:ea typeface="Calibri"/>
                <a:cs typeface="Calibri"/>
              </a:rPr>
              <a:t>Проверка, остаток не меняется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 bwMode="auto">
          <a:xfrm>
            <a:off x="411480" y="3547872"/>
            <a:ext cx="3977640" cy="62179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 bwMode="auto">
          <a:xfrm>
            <a:off x="548640" y="3602735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Списание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 bwMode="auto">
          <a:xfrm>
            <a:off x="548640" y="3822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 /api/operations/writeoff</a:t>
            </a:r>
            <a:endParaRPr lang="en-US" sz="800"/>
          </a:p>
        </p:txBody>
      </p:sp>
      <p:sp>
        <p:nvSpPr>
          <p:cNvPr id="21" name="Text 19"/>
          <p:cNvSpPr/>
          <p:nvPr/>
        </p:nvSpPr>
        <p:spPr bwMode="auto">
          <a:xfrm>
            <a:off x="2651760" y="3694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Проверка → Quantity -= N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 bwMode="auto">
          <a:xfrm>
            <a:off x="466344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 bwMode="auto">
          <a:xfrm>
            <a:off x="479145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FLOW ТРАНЗАКЦИИ (ПРИМЕР: ПРОДАЖА)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 bwMode="auto">
          <a:xfrm>
            <a:off x="4663440" y="1298448"/>
            <a:ext cx="4069080" cy="38404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 bwMode="auto">
          <a:xfrm>
            <a:off x="4800600" y="12984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BEGIN TRANSACTION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 bwMode="auto">
          <a:xfrm>
            <a:off x="6693408" y="1682496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 bwMode="auto">
          <a:xfrm>
            <a:off x="4663440" y="1810512"/>
            <a:ext cx="4069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 bwMode="auto">
          <a:xfrm>
            <a:off x="4800600" y="18105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Проверить остатки по ВСЕМ товарам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 bwMode="auto">
          <a:xfrm>
            <a:off x="6693408" y="2194560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 bwMode="auto">
          <a:xfrm>
            <a:off x="4663440" y="2322576"/>
            <a:ext cx="4069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 bwMode="auto">
          <a:xfrm>
            <a:off x="4800600" y="23225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Создать Operation + OperationItems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 bwMode="auto">
          <a:xfrm>
            <a:off x="6693408" y="2706624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 bwMode="auto">
          <a:xfrm>
            <a:off x="4663440" y="2834640"/>
            <a:ext cx="4069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 bwMode="auto">
          <a:xfrm>
            <a:off x="4800600" y="28346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Уменьшить Stock.Quantity для каждого товара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 bwMode="auto">
          <a:xfrm>
            <a:off x="6693408" y="3218688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 bwMode="auto">
          <a:xfrm>
            <a:off x="4663440" y="3346704"/>
            <a:ext cx="4069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 bwMode="auto">
          <a:xfrm>
            <a:off x="4800600" y="33467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SaveChangesAsync() → один SQL-пакет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 bwMode="auto">
          <a:xfrm>
            <a:off x="6693408" y="3730752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 bwMode="auto">
          <a:xfrm>
            <a:off x="4663440" y="3858768"/>
            <a:ext cx="4069080" cy="38404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 bwMode="auto">
          <a:xfrm>
            <a:off x="4800600" y="38587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 bwMode="auto">
          <a:xfrm>
            <a:off x="4663440" y="4590288"/>
            <a:ext cx="4069080" cy="274320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42" name="Text 40"/>
          <p:cNvSpPr/>
          <p:nvPr/>
        </p:nvSpPr>
        <p:spPr bwMode="auto">
          <a:xfrm>
            <a:off x="4663440" y="45902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При любой ошибке → ROLLBACK — БД остаётся чистой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Глобальная обработка ошибок — Middleware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PATTERN MATCHING ПО ТИПУ ИСКЛЮЧЕНИЯ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 bwMode="auto">
          <a:xfrm>
            <a:off x="411480" y="1325880"/>
            <a:ext cx="4160519" cy="32461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548640" y="14173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var (statusCode, message) = exception switch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InvalidOperationException ex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=&gt; (400, ex.Message),  // бизнес-ошибки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KeyNotFoundException ex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=&gt; (404, ex.Message),  // ресурс не найден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ArgumentException ex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=&gt; (400, ex.Message),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UnauthorizedAccessException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=&gt; (401, "Нет доступа"),</a:t>
            </a:r>
            <a:endParaRPr lang="en-US" sz="900"/>
          </a:p>
          <a:p>
            <a:pPr marL="0" indent="0" algn="l">
              <a:buNone/>
              <a:defRPr/>
            </a:pP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_   =&gt; (500, "Внутренняя ошибка сервера")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};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 bwMode="auto">
          <a:xfrm>
            <a:off x="4773168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4901184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ЕДИНЫЙ ФОРМАТ ОТВЕТА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 bwMode="auto">
          <a:xfrm>
            <a:off x="4773168" y="1325880"/>
            <a:ext cx="397764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 bwMode="auto">
          <a:xfrm>
            <a:off x="4910328" y="141732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"status": 400,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"message": "Недостаточно товара ID=3: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   на складе 5, запрошено 10",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"path": "/api/operations/sale",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"traceId": "0HN7K2J1L4Q3A:00000001"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 bwMode="auto">
          <a:xfrm>
            <a:off x="4773168" y="3520440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 bwMode="auto">
          <a:xfrm>
            <a:off x="4901184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ЧТО ЭТО ДАЁТ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 bwMode="auto">
          <a:xfrm>
            <a:off x="4773168" y="378561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 bwMode="auto">
          <a:xfrm>
            <a:off x="4773168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 bwMode="auto">
          <a:xfrm>
            <a:off x="5047488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Контроллеры без единого try/catch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 bwMode="auto">
          <a:xfrm>
            <a:off x="4773168" y="405993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 bwMode="auto">
          <a:xfrm>
            <a:off x="4773168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 bwMode="auto">
          <a:xfrm>
            <a:off x="5047488" y="4023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Одно место для всей обработки ошибок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 bwMode="auto">
          <a:xfrm>
            <a:off x="4773168" y="433425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 bwMode="auto">
          <a:xfrm>
            <a:off x="4773168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 bwMode="auto">
          <a:xfrm>
            <a:off x="5047488" y="4297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traceId помогает найти ошибку в логах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 bwMode="auto">
          <a:xfrm>
            <a:off x="4773168" y="460857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 bwMode="auto">
          <a:xfrm>
            <a:off x="4773168" y="4608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 bwMode="auto">
          <a:xfrm>
            <a:off x="5047488" y="4572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Фронтенд всегда знает формат ответа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Аналитика — три эндпоинта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411480" y="960120"/>
            <a:ext cx="8321039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 bwMode="auto">
          <a:xfrm>
            <a:off x="411480" y="960120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411480" y="9601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</a:t>
            </a:r>
            <a:endParaRPr lang="en-US" sz="900"/>
          </a:p>
        </p:txBody>
      </p:sp>
      <p:sp>
        <p:nvSpPr>
          <p:cNvPr id="7" name="Text 5"/>
          <p:cNvSpPr/>
          <p:nvPr/>
        </p:nvSpPr>
        <p:spPr bwMode="auto">
          <a:xfrm>
            <a:off x="1170432" y="10149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/api/analytics/top-products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 bwMode="auto">
          <a:xfrm>
            <a:off x="4389120" y="10149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?from=...&amp;to=...&amp;limit=10</a:t>
            </a:r>
            <a:endParaRPr lang="en-US" sz="900"/>
          </a:p>
        </p:txBody>
      </p:sp>
      <p:sp>
        <p:nvSpPr>
          <p:cNvPr id="9" name="Text 7"/>
          <p:cNvSpPr/>
          <p:nvPr/>
        </p:nvSpPr>
        <p:spPr bwMode="auto">
          <a:xfrm>
            <a:off x="594360" y="1362455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Топ товаров по сумме продаж за период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 bwMode="auto">
          <a:xfrm>
            <a:off x="594360" y="16002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GroupBy в SQL на стороне PostgreSQL — агрегирует OperationItems, сортирует по TotalAmount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 bwMode="auto">
          <a:xfrm>
            <a:off x="411480" y="2313432"/>
            <a:ext cx="8321039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 bwMode="auto">
          <a:xfrm>
            <a:off x="411480" y="2313432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 bwMode="auto">
          <a:xfrm>
            <a:off x="411480" y="23134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 bwMode="auto">
          <a:xfrm>
            <a:off x="1170432" y="23682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/api/analytics/turnover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 bwMode="auto">
          <a:xfrm>
            <a:off x="4389120" y="2368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?from=...&amp;to=...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 bwMode="auto">
          <a:xfrm>
            <a:off x="594360" y="271576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Обороты: приход / продажи / списания за период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 bwMode="auto">
          <a:xfrm>
            <a:off x="594360" y="2953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Один запрос к БД → разбивка по дням считается в памяти C# через GroupBy по Date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 bwMode="auto">
          <a:xfrm>
            <a:off x="411480" y="3666744"/>
            <a:ext cx="8321039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 bwMode="auto">
          <a:xfrm>
            <a:off x="411480" y="3666744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 bwMode="auto">
          <a:xfrm>
            <a:off x="411480" y="366674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 bwMode="auto">
          <a:xfrm>
            <a:off x="1170432" y="37216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/api/analytics/low-stock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 bwMode="auto">
          <a:xfrm>
            <a:off x="4389120" y="37216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?minQuantity=5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 bwMode="auto">
          <a:xfrm>
            <a:off x="594360" y="40690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Товары с остатком ниже минимального порога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 bwMode="auto">
          <a:xfrm>
            <a:off x="594360" y="430682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Загружает все Stocks с Include Product, фильтрует Quantity &lt; minQuantity, сортирует по возрастанию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API — </a:t>
            </a: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основные</a:t>
            </a: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эндпоинты</a:t>
            </a:r>
            <a:endParaRPr lang="en-US" sz="22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xmlns:a="http://schemas.openxmlformats.org/drawingml/2006/main" noGrp="1"/>
          </p:cNvGraphicFramePr>
          <p:nvPr/>
        </p:nvGraphicFramePr>
        <p:xfrm>
          <a:off x="411480" y="932688"/>
          <a:ext cx="8321039" cy="4096512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22960"/>
                <a:gridCol w="3017519"/>
                <a:gridCol w="4480560"/>
              </a:tblGrid>
              <a:tr h="25603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Метод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Путь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Описание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134E4A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/api/products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Список товаров с остатками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/api/products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Создать товар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713F12"/>
                          </a:solidFill>
                          <a:latin typeface="Calibri"/>
                          <a:ea typeface="Calibri"/>
                          <a:cs typeface="Calibri"/>
                        </a:rPr>
                        <a:t>PUT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/api/products/{id}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Обновить товар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991B1B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/api/products/{id}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Удалить (нельзя если остаток &gt; 0)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/api/stock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Остатки по всем товарам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/api/stock/{productId}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Остаток по конкретному товару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/api/operations/income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Приход товара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/api/operations/sale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Реализация (продажа)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/api/operations/transfer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Перемещение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/api/operations/writeoff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Списание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/api/operations/history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История с фильтрами и пагинацией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/api/counterparties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Контрагенты (фильтр по типу)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/api/analytics/top-products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Топ продаваемых товаров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/api/analytics/turnover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Обороты за период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 b="1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/api/analytics/low-stock</a:t>
                      </a:r>
                      <a:endParaRPr lang="en-US" sz="8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Остатки ниже минимума</a:t>
                      </a:r>
                      <a:endParaRPr lang="en-US" sz="8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10" algn="ctr">
                      <a:solidFill>
                        <a:srgbClr val="E2E8F0"/>
                      </a:solidFill>
                    </a:lnL>
                    <a:lnR w="3810" algn="ctr">
                      <a:solidFill>
                        <a:srgbClr val="E2E8F0"/>
                      </a:solidFill>
                    </a:lnR>
                    <a:lnT w="3810" algn="ctr">
                      <a:solidFill>
                        <a:srgbClr val="E2E8F0"/>
                      </a:solidFill>
                    </a:lnT>
                    <a:lnB w="3810" algn="ctr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411480" y="256032"/>
            <a:ext cx="83210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Миграции и запуск проекта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 bwMode="auto">
          <a:xfrm>
            <a:off x="411480" y="822960"/>
            <a:ext cx="832103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КОМАНДЫ ЗАПУСКА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 bwMode="auto">
          <a:xfrm>
            <a:off x="411480" y="1298448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41148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 bwMode="auto">
          <a:xfrm>
            <a:off x="868680" y="12984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Создать миграцию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 bwMode="auto">
          <a:xfrm>
            <a:off x="868680" y="1591056"/>
            <a:ext cx="3703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 bwMode="auto">
          <a:xfrm>
            <a:off x="1005840" y="1682496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dotnet ef migrations add InitialCreate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 bwMode="auto">
          <a:xfrm>
            <a:off x="868680" y="1965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EF Core читает модели и генерирует C# файл с инструкциями для БД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 bwMode="auto">
          <a:xfrm>
            <a:off x="411480" y="2441448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 bwMode="auto">
          <a:xfrm>
            <a:off x="41148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 bwMode="auto">
          <a:xfrm>
            <a:off x="868680" y="24414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Применить миграцию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 bwMode="auto">
          <a:xfrm>
            <a:off x="868680" y="2734056"/>
            <a:ext cx="3703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 bwMode="auto">
          <a:xfrm>
            <a:off x="1005840" y="2825496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dotnet ef database update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 bwMode="auto">
          <a:xfrm>
            <a:off x="868680" y="3108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Выполняет SQL: CREATE TABLE для всех 6 таблиц в PostgreSQL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 bwMode="auto">
          <a:xfrm>
            <a:off x="411480" y="3584448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 bwMode="auto">
          <a:xfrm>
            <a:off x="41148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 bwMode="auto">
          <a:xfrm>
            <a:off x="868680" y="35844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Запустить API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 bwMode="auto">
          <a:xfrm>
            <a:off x="868680" y="3877056"/>
            <a:ext cx="3703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 bwMode="auto">
          <a:xfrm>
            <a:off x="1005840" y="3968496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dotnet run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 bwMode="auto">
          <a:xfrm>
            <a:off x="868680" y="4251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Поднимает HTTP-сервер на localhost:5023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 bwMode="auto">
          <a:xfrm>
            <a:off x="4773168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 bwMode="auto">
          <a:xfrm>
            <a:off x="4901184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SWAGGER UI — ТЕСТИРОВАНИЕ API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 bwMode="auto">
          <a:xfrm>
            <a:off x="4773168" y="1298448"/>
            <a:ext cx="3977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 bwMode="auto">
          <a:xfrm>
            <a:off x="4956048" y="1444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http://localhost:5023/swagger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 bwMode="auto">
          <a:xfrm>
            <a:off x="4956048" y="184708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 bwMode="auto">
          <a:xfrm>
            <a:off x="495604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 bwMode="auto">
          <a:xfrm>
            <a:off x="5230368" y="18105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Автоматически генерируется из контроллеров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 bwMode="auto">
          <a:xfrm>
            <a:off x="4956048" y="234086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 bwMode="auto">
          <a:xfrm>
            <a:off x="4956048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 bwMode="auto">
          <a:xfrm>
            <a:off x="5230368" y="23042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Видны все эндпоинты и схемы DTO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 bwMode="auto">
          <a:xfrm>
            <a:off x="4956048" y="283464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 bwMode="auto">
          <a:xfrm>
            <a:off x="4956048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 bwMode="auto">
          <a:xfrm>
            <a:off x="5230368" y="27980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Можно отправить запрос прямо в браузере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 bwMode="auto">
          <a:xfrm>
            <a:off x="4956048" y="332841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 bwMode="auto">
          <a:xfrm>
            <a:off x="4956048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 bwMode="auto">
          <a:xfrm>
            <a:off x="5230368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Только в режиме Development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 bwMode="auto">
          <a:xfrm>
            <a:off x="4956048" y="382219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 bwMode="auto">
          <a:xfrm>
            <a:off x="4956048" y="3822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 bwMode="auto">
          <a:xfrm>
            <a:off x="5230368" y="37856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Использовался фронтендом для интеграции</a:t>
            </a:r>
            <a:endParaRPr lang="en-US" sz="950"/>
          </a:p>
        </p:txBody>
      </p:sp>
      <p:sp>
        <p:nvSpPr>
          <p:cNvPr id="43" name="Text 41"/>
          <p:cNvSpPr/>
          <p:nvPr/>
        </p:nvSpPr>
        <p:spPr bwMode="auto">
          <a:xfrm>
            <a:off x="411480" y="4709160"/>
            <a:ext cx="83210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SQL не писали ни строчки — EF Core генерирует всё автоматически из C# моделей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>PptxGenJS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WarehouseAPI — Бэкенд</dc:title>
  <dc:subject>PptxGenJS Presentation</dc:subject>
  <dc:creator>PptxGenJS</dc:creator>
  <cp:keywords/>
  <dc:description/>
  <dc:identifier/>
  <dc:language/>
  <cp:lastModifiedBy>Роман Роман</cp:lastModifiedBy>
  <cp:revision>34</cp:revision>
  <dcterms:created xsi:type="dcterms:W3CDTF">2026-05-31T08:22:39Z</dcterms:created>
  <dcterms:modified xsi:type="dcterms:W3CDTF">2026-06-01T09:59:56Z</dcterms:modified>
  <cp:category/>
  <cp:contentStatus/>
  <cp:version/>
</cp:coreProperties>
</file>